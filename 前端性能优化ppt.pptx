
<file path=[Content_Types].xml><?xml version="1.0" encoding="utf-8"?>
<Types xmlns="http://schemas.openxmlformats.org/package/2006/content-types">
  <Default Extension="png" ContentType="image/png"/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4" r:id="rId17"/>
    <p:sldId id="275" r:id="rId18"/>
    <p:sldId id="276" r:id="rId19"/>
    <p:sldId id="277" r:id="rId20"/>
    <p:sldId id="278" r:id="rId21"/>
    <p:sldId id="279" r:id="rId22"/>
    <p:sldId id="280" r:id="rId23"/>
    <p:sldId id="281" r:id="rId24"/>
    <p:sldId id="282" r:id="rId25"/>
    <p:sldId id="283" r:id="rId26"/>
    <p:sldId id="284" r:id="rId27"/>
    <p:sldId id="285" r:id="rId28"/>
  </p:sldIdLst>
  <p:sldSz cx="24384000" cy="13716000"/>
  <p:notesSz cx="6858000" cy="9144000"/>
  <p:defaultTextStyle>
    <a:defPPr marL="0" marR="0" indent="0" algn="l" defTabSz="914400" rtl="0" fontAlgn="auto" latinLnBrk="1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1800" b="0" i="0" u="none" strike="noStrike" cap="none" spc="0" normalizeH="0" baseline="0">
        <a:ln>
          <a:noFill/>
        </a:ln>
        <a:solidFill>
          <a:srgbClr val="000000"/>
        </a:solidFill>
        <a:effectLst/>
        <a:uFillTx/>
      </a:defRPr>
    </a:defPPr>
    <a:lvl1pPr marL="0" marR="0" indent="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1pPr>
    <a:lvl2pPr marL="0" marR="0" indent="457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2pPr>
    <a:lvl3pPr marL="0" marR="0" indent="914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3pPr>
    <a:lvl4pPr marL="0" marR="0" indent="1371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4pPr>
    <a:lvl5pPr marL="0" marR="0" indent="18288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5pPr>
    <a:lvl6pPr marL="0" marR="0" indent="22860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6pPr>
    <a:lvl7pPr marL="0" marR="0" indent="27432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7pPr>
    <a:lvl8pPr marL="0" marR="0" indent="32004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8pPr>
    <a:lvl9pPr marL="0" marR="0" indent="3657600" algn="ctr" defTabSz="2438400" rtl="0" fontAlgn="auto" latinLnBrk="0" hangingPunct="0">
      <a:lnSpc>
        <a:spcPct val="100000"/>
      </a:lnSpc>
      <a:spcBef>
        <a:spcPts val="0"/>
      </a:spcBef>
      <a:spcAft>
        <a:spcPts val="0"/>
      </a:spcAft>
      <a:buClrTx/>
      <a:buSzTx/>
      <a:buFontTx/>
      <a:buNone/>
      <a:defRPr kumimoji="0" sz="2400" b="0" i="0" u="none" strike="noStrike" cap="none" spc="0" normalizeH="0" baseline="0">
        <a:ln>
          <a:noFill/>
        </a:ln>
        <a:solidFill>
          <a:srgbClr val="5E5E5E"/>
        </a:solidFill>
        <a:effectLst/>
        <a:uFillTx/>
        <a:latin typeface="+mn-lt"/>
        <a:ea typeface="+mn-ea"/>
        <a:cs typeface="+mn-cs"/>
        <a:sym typeface="Helvetica Neue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>
    <p:present/>
    <p:sldAll/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940675A-B579-460E-94D1-54222C63F5D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7.xml"/><Relationship Id="rId8" Type="http://schemas.openxmlformats.org/officeDocument/2006/relationships/slide" Target="slides/slide6.xml"/><Relationship Id="rId7" Type="http://schemas.openxmlformats.org/officeDocument/2006/relationships/slide" Target="slides/slide5.xml"/><Relationship Id="rId6" Type="http://schemas.openxmlformats.org/officeDocument/2006/relationships/slide" Target="slides/slide4.xml"/><Relationship Id="rId5" Type="http://schemas.openxmlformats.org/officeDocument/2006/relationships/slide" Target="slides/slide3.xml"/><Relationship Id="rId4" Type="http://schemas.openxmlformats.org/officeDocument/2006/relationships/slide" Target="slides/slide2.xml"/><Relationship Id="rId32" Type="http://schemas.openxmlformats.org/officeDocument/2006/relationships/tableStyles" Target="tableStyles.xml"/><Relationship Id="rId31" Type="http://schemas.openxmlformats.org/officeDocument/2006/relationships/viewProps" Target="viewProps.xml"/><Relationship Id="rId30" Type="http://schemas.openxmlformats.org/officeDocument/2006/relationships/presProps" Target="presProps.xml"/><Relationship Id="rId3" Type="http://schemas.openxmlformats.org/officeDocument/2006/relationships/slide" Target="slides/slide1.xml"/><Relationship Id="rId29" Type="http://schemas.openxmlformats.org/officeDocument/2006/relationships/notesMaster" Target="notesMasters/notesMaster1.xml"/><Relationship Id="rId28" Type="http://schemas.openxmlformats.org/officeDocument/2006/relationships/slide" Target="slides/slide26.xml"/><Relationship Id="rId27" Type="http://schemas.openxmlformats.org/officeDocument/2006/relationships/slide" Target="slides/slide25.xml"/><Relationship Id="rId26" Type="http://schemas.openxmlformats.org/officeDocument/2006/relationships/slide" Target="slides/slide24.xml"/><Relationship Id="rId25" Type="http://schemas.openxmlformats.org/officeDocument/2006/relationships/slide" Target="slides/slide23.xml"/><Relationship Id="rId24" Type="http://schemas.openxmlformats.org/officeDocument/2006/relationships/slide" Target="slides/slide22.xml"/><Relationship Id="rId23" Type="http://schemas.openxmlformats.org/officeDocument/2006/relationships/slide" Target="slides/slide21.xml"/><Relationship Id="rId22" Type="http://schemas.openxmlformats.org/officeDocument/2006/relationships/slide" Target="slides/slide20.xml"/><Relationship Id="rId21" Type="http://schemas.openxmlformats.org/officeDocument/2006/relationships/slide" Target="slides/slide19.xml"/><Relationship Id="rId20" Type="http://schemas.openxmlformats.org/officeDocument/2006/relationships/slide" Target="slides/slide18.xml"/><Relationship Id="rId2" Type="http://schemas.openxmlformats.org/officeDocument/2006/relationships/theme" Target="theme/theme1.xml"/><Relationship Id="rId19" Type="http://schemas.openxmlformats.org/officeDocument/2006/relationships/slide" Target="slides/slide17.xml"/><Relationship Id="rId18" Type="http://schemas.openxmlformats.org/officeDocument/2006/relationships/slide" Target="slides/slide16.xml"/><Relationship Id="rId17" Type="http://schemas.openxmlformats.org/officeDocument/2006/relationships/slide" Target="slides/slide15.xml"/><Relationship Id="rId16" Type="http://schemas.openxmlformats.org/officeDocument/2006/relationships/slide" Target="slides/slide14.xml"/><Relationship Id="rId15" Type="http://schemas.openxmlformats.org/officeDocument/2006/relationships/slide" Target="slides/slide13.xml"/><Relationship Id="rId14" Type="http://schemas.openxmlformats.org/officeDocument/2006/relationships/slide" Target="slides/slide12.xml"/><Relationship Id="rId13" Type="http://schemas.openxmlformats.org/officeDocument/2006/relationships/slide" Target="slides/slide11.xml"/><Relationship Id="rId12" Type="http://schemas.openxmlformats.org/officeDocument/2006/relationships/slide" Target="slides/slide10.xml"/><Relationship Id="rId11" Type="http://schemas.openxmlformats.org/officeDocument/2006/relationships/slide" Target="slides/slide9.xml"/><Relationship Id="rId10" Type="http://schemas.openxmlformats.org/officeDocument/2006/relationships/slide" Target="slides/slide8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Shape 148"/>
          <p:cNvSpPr/>
          <p:nvPr>
            <p:ph type="sldImg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</p:spPr>
        <p:txBody>
          <a:bodyPr/>
          <a:lstStyle/>
          <a:p/>
        </p:txBody>
      </p:sp>
      <p:sp>
        <p:nvSpPr>
          <p:cNvPr id="149" name="Shape 149"/>
          <p:cNvSpPr/>
          <p:nvPr>
            <p:ph type="body" sz="quarter" idx="1"/>
          </p:nvPr>
        </p:nvSpPr>
        <p:spPr>
          <a:xfrm>
            <a:off x="914400" y="4343400"/>
            <a:ext cx="5029200" cy="4114800"/>
          </a:xfrm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1pPr>
    <a:lvl2pPr indent="228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2pPr>
    <a:lvl3pPr indent="457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3pPr>
    <a:lvl4pPr indent="685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4pPr>
    <a:lvl5pPr indent="9144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5pPr>
    <a:lvl6pPr indent="11430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6pPr>
    <a:lvl7pPr indent="13716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7pPr>
    <a:lvl8pPr indent="16002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8pPr>
    <a:lvl9pPr indent="1828800" defTabSz="457200" latinLnBrk="0">
      <a:lnSpc>
        <a:spcPct val="118000"/>
      </a:lnSpc>
      <a:defRPr sz="2200">
        <a:latin typeface="+mn-lt"/>
        <a:ea typeface="+mn-ea"/>
        <a:cs typeface="+mn-cs"/>
        <a:sym typeface="Helvetica Neue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标题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作者和日期"/>
          <p:cNvSpPr txBox="1"/>
          <p:nvPr>
            <p:ph type="body" sz="quarter" idx="21" hasCustomPrompt="1"/>
          </p:nvPr>
        </p:nvSpPr>
        <p:spPr>
          <a:xfrm>
            <a:off x="1201340" y="11847162"/>
            <a:ext cx="21971003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>
                <a:solidFill>
                  <a:srgbClr val="FFFFFF"/>
                </a:solidFill>
              </a:defRPr>
            </a:lvl1pPr>
          </a:lstStyle>
          <a:p>
            <a:r>
              <a:t>作者和日期</a:t>
            </a:r>
          </a:p>
        </p:txBody>
      </p:sp>
      <p:sp>
        <p:nvSpPr>
          <p:cNvPr id="12" name="演示文稿标题"/>
          <p:cNvSpPr txBox="1"/>
          <p:nvPr>
            <p:ph type="title" hasCustomPrompt="1"/>
          </p:nvPr>
        </p:nvSpPr>
        <p:spPr>
          <a:xfrm>
            <a:off x="1206496" y="2574991"/>
            <a:ext cx="21971004" cy="4648201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13" name="正文级别 1…"/>
          <p:cNvSpPr txBox="1"/>
          <p:nvPr>
            <p:ph type="body" sz="quarter" idx="1" hasCustomPrompt="1"/>
          </p:nvPr>
        </p:nvSpPr>
        <p:spPr>
          <a:xfrm>
            <a:off x="1201342" y="7210490"/>
            <a:ext cx="21971001" cy="1905001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chemeClr val="accent1"/>
                </a:solidFill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从上面看热气球顶部的特写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22" name="演示文稿标题"/>
          <p:cNvSpPr txBox="1"/>
          <p:nvPr>
            <p:ph type="title" hasCustomPrompt="1"/>
          </p:nvPr>
        </p:nvSpPr>
        <p:spPr>
          <a:xfrm>
            <a:off x="1206500" y="7124700"/>
            <a:ext cx="21971000" cy="4648200"/>
          </a:xfrm>
          <a:prstGeom prst="rect">
            <a:avLst/>
          </a:prstGeom>
        </p:spPr>
        <p:txBody>
          <a:bodyPr anchor="b"/>
          <a:lstStyle>
            <a:lvl1pPr>
              <a:defRPr sz="11600" spc="-232">
                <a:solidFill>
                  <a:srgbClr val="FFFFFF"/>
                </a:solidFill>
              </a:defRPr>
            </a:lvl1pPr>
          </a:lstStyle>
          <a:p>
            <a:r>
              <a:t>演示文稿标题</a:t>
            </a:r>
          </a:p>
        </p:txBody>
      </p:sp>
      <p:sp>
        <p:nvSpPr>
          <p:cNvPr id="23" name="作者和日期"/>
          <p:cNvSpPr txBox="1"/>
          <p:nvPr>
            <p:ph type="body" sz="quarter" idx="22" hasCustomPrompt="1"/>
          </p:nvPr>
        </p:nvSpPr>
        <p:spPr>
          <a:xfrm>
            <a:off x="1207690" y="1106137"/>
            <a:ext cx="21968621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作者和日期</a:t>
            </a:r>
          </a:p>
        </p:txBody>
      </p:sp>
      <p:sp>
        <p:nvSpPr>
          <p:cNvPr id="24" name="正文级别 1…"/>
          <p:cNvSpPr txBox="1"/>
          <p:nvPr>
            <p:ph type="body" sz="quarter" idx="1" hasCustomPrompt="1"/>
          </p:nvPr>
        </p:nvSpPr>
        <p:spPr>
          <a:xfrm>
            <a:off x="1206500" y="11609910"/>
            <a:ext cx="21971000" cy="1116952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>
                <a:solidFill>
                  <a:srgbClr val="FFFFFF"/>
                </a:solidFill>
              </a:defRPr>
            </a:lvl5pPr>
          </a:lstStyle>
          <a:p>
            <a:r>
              <a:t>演示文稿副标题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2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照片（备选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从下面看热气球的特写"/>
          <p:cNvSpPr/>
          <p:nvPr>
            <p:ph type="pic" idx="21"/>
          </p:nvPr>
        </p:nvSpPr>
        <p:spPr>
          <a:xfrm>
            <a:off x="9226574" y="1270000"/>
            <a:ext cx="16840152" cy="1118443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33" name="幻灯片标题"/>
          <p:cNvSpPr txBox="1"/>
          <p:nvPr>
            <p:ph type="title" hasCustomPrompt="1"/>
          </p:nvPr>
        </p:nvSpPr>
        <p:spPr>
          <a:xfrm>
            <a:off x="1206500" y="1270000"/>
            <a:ext cx="9779000" cy="5882273"/>
          </a:xfrm>
          <a:prstGeom prst="rect">
            <a:avLst/>
          </a:prstGeom>
        </p:spPr>
        <p:txBody>
          <a:bodyPr anchor="b"/>
          <a:lstStyle/>
          <a:p>
            <a:r>
              <a:t>幻灯片标题</a:t>
            </a:r>
          </a:p>
        </p:txBody>
      </p:sp>
      <p:sp>
        <p:nvSpPr>
          <p:cNvPr id="34" name="正文级别 1…"/>
          <p:cNvSpPr txBox="1"/>
          <p:nvPr>
            <p:ph type="body" sz="quarter" idx="1" hasCustomPrompt="1"/>
          </p:nvPr>
        </p:nvSpPr>
        <p:spPr>
          <a:xfrm>
            <a:off x="1206500" y="7060576"/>
            <a:ext cx="9779000" cy="5385424"/>
          </a:xfrm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1pPr>
            <a:lvl2pPr marL="0" indent="4572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2pPr>
            <a:lvl3pPr marL="0" indent="9144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3pPr>
            <a:lvl4pPr marL="0" indent="13716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4pPr>
            <a:lvl5pPr marL="0" indent="1828800" defTabSz="825500">
              <a:lnSpc>
                <a:spcPct val="100000"/>
              </a:lnSpc>
              <a:spcBef>
                <a:spcPts val="0"/>
              </a:spcBef>
              <a:buSzTx/>
              <a:buNone/>
              <a:defRPr sz="5500" b="1"/>
            </a:lvl5pPr>
          </a:lstStyle>
          <a:p>
            <a:r>
              <a:t>幻灯片副标题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35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与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幻灯片标题"/>
          <p:cNvSpPr txBox="1"/>
          <p:nvPr>
            <p:ph type="title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43" name="幻灯片副标题"/>
          <p:cNvSpPr txBox="1"/>
          <p:nvPr>
            <p:ph type="body" sz="quarter" idx="21" hasCustomPrompt="1"/>
          </p:nvPr>
        </p:nvSpPr>
        <p:spPr>
          <a:xfrm>
            <a:off x="1206500" y="2245962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44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项目符号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2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 numCol="2" spcCol="1098550"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53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标题、项目符号与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幻灯片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9779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61" name="正文级别 1…"/>
          <p:cNvSpPr txBox="1"/>
          <p:nvPr>
            <p:ph type="body" sz="half" idx="1" hasCustomPrompt="1"/>
          </p:nvPr>
        </p:nvSpPr>
        <p:spPr>
          <a:xfrm>
            <a:off x="1206500" y="4248504"/>
            <a:ext cx="9779000" cy="8256630"/>
          </a:xfrm>
          <a:prstGeom prst="rect">
            <a:avLst/>
          </a:prstGeom>
        </p:spPr>
        <p:txBody>
          <a:bodyPr/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62" name="从下面看蓝天下的热气球"/>
          <p:cNvSpPr/>
          <p:nvPr>
            <p:ph type="pic" idx="22"/>
          </p:nvPr>
        </p:nvSpPr>
        <p:spPr>
          <a:xfrm>
            <a:off x="8432800" y="1263848"/>
            <a:ext cx="16850011" cy="11188205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63" name="幻灯片标题"/>
          <p:cNvSpPr txBox="1"/>
          <p:nvPr>
            <p:ph type="title" hasCustomPrompt="1"/>
          </p:nvPr>
        </p:nvSpPr>
        <p:spPr>
          <a:xfrm>
            <a:off x="1206500" y="952500"/>
            <a:ext cx="9779000" cy="1435100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64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节">
    <p:bg>
      <p:bgPr>
        <a:solidFill>
          <a:srgbClr val="00346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" name="章节标题"/>
          <p:cNvSpPr txBox="1"/>
          <p:nvPr>
            <p:ph type="title" hasCustomPrompt="1"/>
          </p:nvPr>
        </p:nvSpPr>
        <p:spPr>
          <a:xfrm>
            <a:off x="1206496" y="4533900"/>
            <a:ext cx="21971004" cy="4648200"/>
          </a:xfrm>
          <a:prstGeom prst="rect">
            <a:avLst/>
          </a:prstGeom>
        </p:spPr>
        <p:txBody>
          <a:bodyPr anchor="ctr"/>
          <a:lstStyle>
            <a:lvl1pPr>
              <a:defRPr sz="11600" b="0" spc="-232">
                <a:solidFill>
                  <a:srgbClr val="FFFFFF"/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</a:lstStyle>
          <a:p>
            <a:r>
              <a:t>章节标题</a:t>
            </a:r>
          </a:p>
        </p:txBody>
      </p:sp>
      <p:sp>
        <p:nvSpPr>
          <p:cNvPr id="72" name="幻灯片编号"/>
          <p:cNvSpPr txBox="1"/>
          <p:nvPr>
            <p:ph type="sldNum" sz="quarter" idx="2"/>
          </p:nvPr>
        </p:nvSpPr>
        <p:spPr>
          <a:xfrm>
            <a:off x="12001499" y="13085233"/>
            <a:ext cx="368505" cy="374600"/>
          </a:xfrm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4949"/>
          </a:xfrm>
          <a:prstGeom prst="rect">
            <a:avLst/>
          </a:prstGeom>
        </p:spPr>
        <p:txBody>
          <a:bodyPr/>
          <a:lstStyle/>
          <a:p>
            <a:r>
              <a:t>幻灯片标题</a:t>
            </a:r>
          </a:p>
        </p:txBody>
      </p:sp>
      <p:sp>
        <p:nvSpPr>
          <p:cNvPr id="80" name="幻灯片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幻灯片副标题</a:t>
            </a:r>
          </a:p>
        </p:txBody>
      </p:sp>
      <p:sp>
        <p:nvSpPr>
          <p:cNvPr id="8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议程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议程标题"/>
          <p:cNvSpPr txBox="1"/>
          <p:nvPr>
            <p:ph type="title" hasCustomPrompt="1"/>
          </p:nvPr>
        </p:nvSpPr>
        <p:spPr>
          <a:xfrm>
            <a:off x="1206500" y="952500"/>
            <a:ext cx="21971000" cy="1435100"/>
          </a:xfrm>
          <a:prstGeom prst="rect">
            <a:avLst/>
          </a:prstGeom>
        </p:spPr>
        <p:txBody>
          <a:bodyPr/>
          <a:lstStyle/>
          <a:p>
            <a:r>
              <a:t>议程标题</a:t>
            </a:r>
          </a:p>
        </p:txBody>
      </p:sp>
      <p:sp>
        <p:nvSpPr>
          <p:cNvPr id="89" name="议程副标题"/>
          <p:cNvSpPr txBox="1"/>
          <p:nvPr>
            <p:ph type="body" sz="quarter" idx="21" hasCustomPrompt="1"/>
          </p:nvPr>
        </p:nvSpPr>
        <p:spPr>
          <a:xfrm>
            <a:off x="1206500" y="2247900"/>
            <a:ext cx="21971000" cy="9347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议程副标题</a:t>
            </a:r>
          </a:p>
        </p:txBody>
      </p:sp>
      <p:sp>
        <p:nvSpPr>
          <p:cNvPr id="90" name="正文级别 1…"/>
          <p:cNvSpPr txBox="1"/>
          <p:nvPr>
            <p:ph type="body" idx="1" hasCustomPrompt="1"/>
          </p:nvPr>
        </p:nvSpPr>
        <p:spPr>
          <a:prstGeom prst="rect">
            <a:avLst/>
          </a:prstGeom>
        </p:spPr>
        <p:txBody>
          <a:bodyPr/>
          <a:lstStyle>
            <a:lvl1pPr marL="0" indent="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1pPr>
            <a:lvl2pPr marL="0" indent="4572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2pPr>
            <a:lvl3pPr marL="0" indent="9144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3pPr>
            <a:lvl4pPr marL="0" indent="13716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4pPr>
            <a:lvl5pPr marL="0" indent="1828800" defTabSz="825500">
              <a:lnSpc>
                <a:spcPct val="100000"/>
              </a:lnSpc>
              <a:spcBef>
                <a:spcPts val="1800"/>
              </a:spcBef>
              <a:buSzTx/>
              <a:buNone/>
              <a:defRPr sz="5500" spc="-55"/>
            </a:lvl5pPr>
          </a:lstStyle>
          <a:p>
            <a:r>
              <a:t>议程主题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1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说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正文级别 1…"/>
          <p:cNvSpPr txBox="1"/>
          <p:nvPr>
            <p:ph type="body" sz="half" idx="1" hasCustomPrompt="1"/>
          </p:nvPr>
        </p:nvSpPr>
        <p:spPr>
          <a:xfrm>
            <a:off x="1206500" y="4920843"/>
            <a:ext cx="21971000" cy="3874314"/>
          </a:xfrm>
          <a:prstGeom prst="rect">
            <a:avLst/>
          </a:prstGeom>
        </p:spPr>
        <p:txBody>
          <a:bodyPr anchor="ctr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11600" spc="-232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说明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99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显著事实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正文级别 1…"/>
          <p:cNvSpPr txBox="1"/>
          <p:nvPr>
            <p:ph type="body" idx="1" hasCustomPrompt="1"/>
          </p:nvPr>
        </p:nvSpPr>
        <p:spPr>
          <a:xfrm>
            <a:off x="1206500" y="1075927"/>
            <a:ext cx="21971000" cy="7241584"/>
          </a:xfrm>
          <a:prstGeom prst="rect">
            <a:avLst/>
          </a:prstGeom>
        </p:spPr>
        <p:txBody>
          <a:bodyPr anchor="b"/>
          <a:lstStyle>
            <a:lvl1pPr marL="0" indent="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3"/>
                  </a:schemeClr>
                </a:solidFill>
              </a:defRPr>
            </a:lvl1pPr>
            <a:lvl2pPr marL="0" indent="4572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3"/>
                  </a:schemeClr>
                </a:solidFill>
              </a:defRPr>
            </a:lvl2pPr>
            <a:lvl3pPr marL="0" indent="9144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3"/>
                  </a:schemeClr>
                </a:solidFill>
              </a:defRPr>
            </a:lvl3pPr>
            <a:lvl4pPr marL="0" indent="13716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3"/>
                  </a:schemeClr>
                </a:solidFill>
              </a:defRPr>
            </a:lvl4pPr>
            <a:lvl5pPr marL="0" indent="1828800" algn="ctr">
              <a:lnSpc>
                <a:spcPct val="80000"/>
              </a:lnSpc>
              <a:spcBef>
                <a:spcPts val="0"/>
              </a:spcBef>
              <a:buSzTx/>
              <a:buNone/>
              <a:defRPr sz="25000" b="1" spc="-250">
                <a:solidFill>
                  <a:schemeClr val="accent1">
                    <a:hueOff val="114395"/>
                    <a:lumOff val="-24973"/>
                  </a:schemeClr>
                </a:solidFill>
              </a:defRPr>
            </a:lvl5pPr>
          </a:lstStyle>
          <a:p>
            <a:r>
              <a:t>100%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07" name="事实信息"/>
          <p:cNvSpPr txBox="1"/>
          <p:nvPr>
            <p:ph type="body" sz="quarter" idx="21" hasCustomPrompt="1"/>
          </p:nvPr>
        </p:nvSpPr>
        <p:spPr>
          <a:xfrm>
            <a:off x="1206500" y="8262180"/>
            <a:ext cx="21971000" cy="934780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algn="ctr" defTabSz="726440">
              <a:lnSpc>
                <a:spcPct val="100000"/>
              </a:lnSpc>
              <a:spcBef>
                <a:spcPts val="0"/>
              </a:spcBef>
              <a:buSzTx/>
              <a:buNone/>
              <a:defRPr sz="4840" b="1"/>
            </a:lvl1pPr>
          </a:lstStyle>
          <a:p>
            <a:r>
              <a:t>事实信息</a:t>
            </a:r>
          </a:p>
        </p:txBody>
      </p:sp>
      <p:sp>
        <p:nvSpPr>
          <p:cNvPr id="108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引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5" name="属性"/>
          <p:cNvSpPr txBox="1"/>
          <p:nvPr>
            <p:ph type="body" sz="quarter" idx="21" hasCustomPrompt="1"/>
          </p:nvPr>
        </p:nvSpPr>
        <p:spPr>
          <a:xfrm>
            <a:off x="2480825" y="10675453"/>
            <a:ext cx="20149252" cy="636979"/>
          </a:xfrm>
          <a:prstGeom prst="rect">
            <a:avLst/>
          </a:prstGeom>
        </p:spPr>
        <p:txBody>
          <a:bodyPr lIns="45719" tIns="45719" rIns="45719" bIns="45719"/>
          <a:lstStyle>
            <a:lvl1pPr marL="0" indent="0" defTabSz="701675">
              <a:lnSpc>
                <a:spcPct val="100000"/>
              </a:lnSpc>
              <a:spcBef>
                <a:spcPts val="0"/>
              </a:spcBef>
              <a:buSzTx/>
              <a:buNone/>
              <a:defRPr sz="3060" b="1"/>
            </a:lvl1pPr>
          </a:lstStyle>
          <a:p>
            <a:r>
              <a:t>属性</a:t>
            </a:r>
          </a:p>
        </p:txBody>
      </p:sp>
      <p:sp>
        <p:nvSpPr>
          <p:cNvPr id="116" name="正文级别 1…"/>
          <p:cNvSpPr txBox="1"/>
          <p:nvPr>
            <p:ph type="body" sz="half" idx="1" hasCustomPrompt="1"/>
          </p:nvPr>
        </p:nvSpPr>
        <p:spPr>
          <a:xfrm>
            <a:off x="1753923" y="4939860"/>
            <a:ext cx="20876154" cy="3836280"/>
          </a:xfrm>
          <a:prstGeom prst="rect">
            <a:avLst/>
          </a:prstGeom>
        </p:spPr>
        <p:txBody>
          <a:bodyPr/>
          <a:lstStyle>
            <a:lvl1pPr marL="638810" indent="-469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1pPr>
            <a:lvl2pPr marL="638810" indent="-12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2pPr>
            <a:lvl3pPr marL="638810" indent="4445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3pPr>
            <a:lvl4pPr marL="638810" indent="9017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4pPr>
            <a:lvl5pPr marL="638810" indent="1358900">
              <a:spcBef>
                <a:spcPts val="0"/>
              </a:spcBef>
              <a:buSzTx/>
              <a:buNone/>
              <a:defRPr sz="8500" spc="-170">
                <a:solidFill>
                  <a:schemeClr val="accent1">
                    <a:hueOff val="114395"/>
                    <a:lumOff val="-24973"/>
                  </a:schemeClr>
                </a:solidFill>
                <a:latin typeface="Helvetica Neue Medium"/>
                <a:ea typeface="Helvetica Neue Medium"/>
                <a:cs typeface="Helvetica Neue Medium"/>
                <a:sym typeface="Helvetica Neue Medium"/>
              </a:defRPr>
            </a:lvl5pPr>
          </a:lstStyle>
          <a:p>
            <a:r>
              <a:t>“著名引文”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11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 - 3 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4" name="从下面看蓝天下的热气球"/>
          <p:cNvSpPr/>
          <p:nvPr>
            <p:ph type="pic" sz="quarter" idx="21"/>
          </p:nvPr>
        </p:nvSpPr>
        <p:spPr>
          <a:xfrm>
            <a:off x="15436504" y="1270000"/>
            <a:ext cx="8167167" cy="54229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5" name="从上面看热气球顶部的特写"/>
          <p:cNvSpPr/>
          <p:nvPr>
            <p:ph type="pic" sz="quarter" idx="22"/>
          </p:nvPr>
        </p:nvSpPr>
        <p:spPr>
          <a:xfrm>
            <a:off x="15461772" y="7085972"/>
            <a:ext cx="8148414" cy="5432276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6" name="从下面看蓝天下的热气球"/>
          <p:cNvSpPr/>
          <p:nvPr>
            <p:ph type="pic" idx="23"/>
          </p:nvPr>
        </p:nvSpPr>
        <p:spPr>
          <a:xfrm>
            <a:off x="-124635" y="1270000"/>
            <a:ext cx="16859219" cy="11239479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27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照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4" name="从下面看蓝天下的热气球"/>
          <p:cNvSpPr/>
          <p:nvPr>
            <p:ph type="pic" idx="21"/>
          </p:nvPr>
        </p:nvSpPr>
        <p:spPr>
          <a:xfrm>
            <a:off x="0" y="-1270000"/>
            <a:ext cx="24384000" cy="16256000"/>
          </a:xfrm>
          <a:prstGeom prst="rect">
            <a:avLst/>
          </a:prstGeom>
        </p:spPr>
        <p:txBody>
          <a:bodyPr lIns="91439" tIns="45719" rIns="91439" bIns="45719">
            <a:noAutofit/>
          </a:bodyPr>
          <a:lstStyle/>
          <a:p/>
        </p:txBody>
      </p:sp>
      <p:sp>
        <p:nvSpPr>
          <p:cNvPr id="135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幻灯片编号"/>
          <p:cNvSpPr txBox="1"/>
          <p:nvPr>
            <p:ph type="sldNum" sz="quarter" idx="2"/>
          </p:nvPr>
        </p:nvSpPr>
        <p:spPr>
          <a:prstGeom prst="rect">
            <a:avLst/>
          </a:prstGeom>
        </p:spPr>
        <p:txBody>
          <a:bodyPr/>
          <a:lstStyle/>
          <a:p>
            <a:fld id="{86CB4B4D-7CA3-9044-876B-883B54F8677D}" type="slidenum">
              <a:rPr/>
            </a:fld>
            <a:endParaRPr/>
          </a:p>
        </p:txBody>
      </p:sp>
    </p:spTree>
  </p:cSld>
  <p:clrMapOvr>
    <a:masterClrMapping/>
  </p:clrMapOvr>
  <p:transition spd="med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标题"/>
          <p:cNvSpPr txBox="1"/>
          <p:nvPr>
            <p:ph type="title" hasCustomPrompt="1"/>
          </p:nvPr>
        </p:nvSpPr>
        <p:spPr>
          <a:xfrm>
            <a:off x="1206500" y="952500"/>
            <a:ext cx="21971000" cy="14331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幻灯片标题</a:t>
            </a:r>
          </a:p>
        </p:txBody>
      </p:sp>
      <p:sp>
        <p:nvSpPr>
          <p:cNvPr id="3" name="正文级别 1…"/>
          <p:cNvSpPr txBox="1"/>
          <p:nvPr>
            <p:ph type="body" idx="1" hasCustomPrompt="1"/>
          </p:nvPr>
        </p:nvSpPr>
        <p:spPr>
          <a:xfrm>
            <a:off x="1206500" y="4248504"/>
            <a:ext cx="21971000" cy="825601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>
            <a:normAutofit/>
          </a:bodyPr>
          <a:lstStyle/>
          <a:p>
            <a:r>
              <a:t>幻灯片项目符号文本</a:t>
            </a:r>
          </a:p>
          <a:p>
            <a:pPr lvl="1"/>
          </a:p>
          <a:p>
            <a:pPr lvl="2"/>
          </a:p>
          <a:p>
            <a:pPr lvl="3"/>
          </a:p>
          <a:p>
            <a:pPr lvl="4"/>
          </a:p>
        </p:txBody>
      </p:sp>
      <p:sp>
        <p:nvSpPr>
          <p:cNvPr id="4" name="幻灯片编号"/>
          <p:cNvSpPr txBox="1"/>
          <p:nvPr>
            <p:ph type="sldNum" sz="quarter" idx="2"/>
          </p:nvPr>
        </p:nvSpPr>
        <p:spPr>
          <a:xfrm>
            <a:off x="12001499" y="13080999"/>
            <a:ext cx="368505" cy="37460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b">
            <a:spAutoFit/>
          </a:bodyPr>
          <a:lstStyle>
            <a:lvl1pPr defTabSz="584200">
              <a:defRPr sz="1800">
                <a:solidFill>
                  <a:srgbClr val="000000"/>
                </a:solidFill>
              </a:defRPr>
            </a:lvl1pPr>
          </a:lstStyle>
          <a:p>
            <a:fld id="{86CB4B4D-7CA3-9044-876B-883B54F8677D}" type="slidenum">
              <a:rPr/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</p:sldLayoutIdLst>
  <p:transition spd="med"/>
  <p:txStyles>
    <p:titleStyle>
      <a:lvl1pPr marL="0" marR="0" indent="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l" defTabSz="2438400" rtl="0" latinLnBrk="0">
        <a:lnSpc>
          <a:spcPct val="80000"/>
        </a:lnSpc>
        <a:spcBef>
          <a:spcPts val="0"/>
        </a:spcBef>
        <a:spcAft>
          <a:spcPts val="0"/>
        </a:spcAft>
        <a:buClrTx/>
        <a:buSzTx/>
        <a:buFontTx/>
        <a:buNone/>
        <a:defRPr sz="8500" b="1" i="0" u="none" strike="noStrike" cap="none" spc="-170" baseline="0">
          <a:solidFill>
            <a:schemeClr val="accent1">
              <a:hueOff val="114395"/>
              <a:lumOff val="-24973"/>
            </a:schemeClr>
          </a:solidFill>
          <a:uFillTx/>
          <a:latin typeface="+mn-lt"/>
          <a:ea typeface="+mn-ea"/>
          <a:cs typeface="+mn-cs"/>
          <a:sym typeface="Helvetica Neue"/>
        </a:defRPr>
      </a:lvl9pPr>
    </p:titleStyle>
    <p:bodyStyle>
      <a:lvl1pPr marL="609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1pPr>
      <a:lvl2pPr marL="1219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2pPr>
      <a:lvl3pPr marL="1828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3pPr>
      <a:lvl4pPr marL="2438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4pPr>
      <a:lvl5pPr marL="30480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5pPr>
      <a:lvl6pPr marL="36576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6pPr>
      <a:lvl7pPr marL="42672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7pPr>
      <a:lvl8pPr marL="48768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8pPr>
      <a:lvl9pPr marL="5486400" marR="0" indent="-609600" algn="l" defTabSz="2438400" rtl="0" latinLnBrk="0">
        <a:lnSpc>
          <a:spcPct val="90000"/>
        </a:lnSpc>
        <a:spcBef>
          <a:spcPts val="4500"/>
        </a:spcBef>
        <a:spcAft>
          <a:spcPts val="0"/>
        </a:spcAft>
        <a:buClrTx/>
        <a:buSzPct val="123000"/>
        <a:buFontTx/>
        <a:buChar char="•"/>
        <a:defRPr sz="4800" b="0" i="0" u="none" strike="noStrike" cap="none" spc="0" baseline="0">
          <a:solidFill>
            <a:srgbClr val="000000"/>
          </a:solidFill>
          <a:uFillTx/>
          <a:latin typeface="+mn-lt"/>
          <a:ea typeface="+mn-ea"/>
          <a:cs typeface="+mn-cs"/>
          <a:sym typeface="Helvetica Neue"/>
        </a:defRPr>
      </a:lvl9pPr>
    </p:bodyStyle>
    <p:otherStyle>
      <a:lvl1pPr marL="0" marR="0" indent="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1pPr>
      <a:lvl2pPr marL="0" marR="0" indent="457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2pPr>
      <a:lvl3pPr marL="0" marR="0" indent="914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3pPr>
      <a:lvl4pPr marL="0" marR="0" indent="1371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4pPr>
      <a:lvl5pPr marL="0" marR="0" indent="18288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5pPr>
      <a:lvl6pPr marL="0" marR="0" indent="22860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6pPr>
      <a:lvl7pPr marL="0" marR="0" indent="27432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7pPr>
      <a:lvl8pPr marL="0" marR="0" indent="32004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8pPr>
      <a:lvl9pPr marL="0" marR="0" indent="3657600" algn="ctr" defTabSz="584200" rtl="0" latinLnBrk="0">
        <a:lnSpc>
          <a:spcPct val="100000"/>
        </a:lnSpc>
        <a:spcBef>
          <a:spcPts val="0"/>
        </a:spcBef>
        <a:spcAft>
          <a:spcPts val="0"/>
        </a:spcAft>
        <a:buClrTx/>
        <a:buSzTx/>
        <a:buFontTx/>
        <a:buNone/>
        <a:defRPr sz="1800" b="0" i="0" u="none" strike="noStrike" cap="none" spc="0" baseline="0">
          <a:solidFill>
            <a:schemeClr val="tx1"/>
          </a:solidFill>
          <a:uFillTx/>
          <a:latin typeface="+mn-lt"/>
          <a:ea typeface="+mn-ea"/>
          <a:cs typeface="+mn-cs"/>
          <a:sym typeface="Helvetica Neue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.png"/><Relationship Id="rId1" Type="http://schemas.openxmlformats.org/officeDocument/2006/relationships/image" Target="../media/image1.pn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4.png"/><Relationship Id="rId2" Type="http://schemas.openxmlformats.org/officeDocument/2006/relationships/image" Target="../media/image7.png"/><Relationship Id="rId1" Type="http://schemas.openxmlformats.org/officeDocument/2006/relationships/image" Target="../media/image6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2.png"/><Relationship Id="rId2" Type="http://schemas.openxmlformats.org/officeDocument/2006/relationships/image" Target="../media/image11.png"/><Relationship Id="rId1" Type="http://schemas.openxmlformats.org/officeDocument/2006/relationships/image" Target="../media/image10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5.jpeg"/><Relationship Id="rId2" Type="http://schemas.openxmlformats.org/officeDocument/2006/relationships/image" Target="../media/image14.png"/><Relationship Id="rId1" Type="http://schemas.openxmlformats.org/officeDocument/2006/relationships/image" Target="../media/image13.png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6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image" Target="../media/image17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1.jpeg"/><Relationship Id="rId1" Type="http://schemas.openxmlformats.org/officeDocument/2006/relationships/image" Target="../media/image20.jpeg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2.jpeg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3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25.png"/><Relationship Id="rId1" Type="http://schemas.openxmlformats.org/officeDocument/2006/relationships/image" Target="../media/image24.png"/></Relationships>
</file>

<file path=ppt/slides/_rels/slide26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浏览器的渲染引擎"/>
          <p:cNvSpPr txBox="1"/>
          <p:nvPr/>
        </p:nvSpPr>
        <p:spPr>
          <a:xfrm>
            <a:off x="9340850" y="6318249"/>
            <a:ext cx="5702300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浏览器的渲染引擎</a:t>
            </a:r>
          </a:p>
        </p:txBody>
      </p:sp>
    </p:spTree>
  </p:cSld>
  <p:clrMapOvr>
    <a:masterClrMapping/>
  </p:clrMapOvr>
  <p:transition spd="med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渲染过程"/>
          <p:cNvSpPr txBox="1"/>
          <p:nvPr/>
        </p:nvSpPr>
        <p:spPr>
          <a:xfrm>
            <a:off x="951148" y="734882"/>
            <a:ext cx="29083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渲染过程</a:t>
            </a:r>
          </a:p>
        </p:txBody>
      </p:sp>
      <p:sp>
        <p:nvSpPr>
          <p:cNvPr id="161" name="渲染引擎从网络层获取到请求的文档内容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渲染引擎从网络层获取到请求的文档内容</a:t>
            </a:r>
          </a:p>
        </p:txBody>
      </p:sp>
      <p:grpSp>
        <p:nvGrpSpPr>
          <p:cNvPr id="164" name="渲染过程.png"/>
          <p:cNvGrpSpPr/>
          <p:nvPr/>
        </p:nvGrpSpPr>
        <p:grpSpPr>
          <a:xfrm>
            <a:off x="1879600" y="5746750"/>
            <a:ext cx="20624800" cy="2222500"/>
            <a:chOff x="0" y="0"/>
            <a:chExt cx="20624800" cy="2222500"/>
          </a:xfrm>
        </p:grpSpPr>
        <p:pic>
          <p:nvPicPr>
            <p:cNvPr id="163" name="渲染过程.png" descr="渲染过程.png"/>
            <p:cNvPicPr>
              <a:picLocks noChangeAspect="1"/>
            </p:cNvPicPr>
            <p:nvPr/>
          </p:nvPicPr>
          <p:blipFill>
            <a:blip r:embed="rId1"/>
            <a:stretch>
              <a:fillRect/>
            </a:stretch>
          </p:blipFill>
          <p:spPr>
            <a:xfrm>
              <a:off x="50800" y="50800"/>
              <a:ext cx="20523200" cy="2120900"/>
            </a:xfrm>
            <a:prstGeom prst="rect">
              <a:avLst/>
            </a:prstGeom>
            <a:ln>
              <a:noFill/>
            </a:ln>
            <a:effectLst/>
          </p:spPr>
        </p:pic>
        <p:pic>
          <p:nvPicPr>
            <p:cNvPr id="162" name="渲染过程.png" descr="渲染过程.png"/>
            <p:cNvPicPr/>
            <p:nvPr/>
          </p:nvPicPr>
          <p:blipFill>
            <a:blip r:embed="rId2"/>
            <a:stretch>
              <a:fillRect/>
            </a:stretch>
          </p:blipFill>
          <p:spPr>
            <a:xfrm>
              <a:off x="0" y="0"/>
              <a:ext cx="20624800" cy="2222500"/>
            </a:xfrm>
            <a:prstGeom prst="rect">
              <a:avLst/>
            </a:prstGeom>
            <a:effectLst/>
          </p:spPr>
        </p:pic>
      </p:grpSp>
    </p:spTree>
  </p:cSld>
  <p:clrMapOvr>
    <a:masterClrMapping/>
  </p:clrMapOvr>
  <p:transition spd="med"/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6" name="DOM树的构建"/>
          <p:cNvSpPr txBox="1"/>
          <p:nvPr/>
        </p:nvSpPr>
        <p:spPr>
          <a:xfrm>
            <a:off x="951148" y="734882"/>
            <a:ext cx="4602862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DOM树的构建</a:t>
            </a:r>
          </a:p>
        </p:txBody>
      </p:sp>
      <p:sp>
        <p:nvSpPr>
          <p:cNvPr id="167" name="浏览器无法直接理解和使用HTML，需要将HTML转换为浏览器能够立即的结构——DOM树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浏览器无法直接理解和使用HTML，需要将HTML转换为浏览器能够立即的结构——DOM树</a:t>
            </a:r>
          </a:p>
        </p:txBody>
      </p:sp>
      <p:pic>
        <p:nvPicPr>
          <p:cNvPr id="168" name="carbon (10).png" descr="carbon (10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32100" y="4028242"/>
            <a:ext cx="9894917" cy="9005085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69" name="线条 线条" descr="线条 线条"/>
          <p:cNvPicPr/>
          <p:nvPr/>
        </p:nvPicPr>
        <p:blipFill>
          <a:blip r:embed="rId2"/>
          <a:stretch>
            <a:fillRect/>
          </a:stretch>
        </p:blipFill>
        <p:spPr>
          <a:xfrm>
            <a:off x="10891766" y="7889521"/>
            <a:ext cx="1371601" cy="519688"/>
          </a:xfrm>
          <a:prstGeom prst="rect">
            <a:avLst/>
          </a:prstGeom>
        </p:spPr>
      </p:pic>
      <p:pic>
        <p:nvPicPr>
          <p:cNvPr id="171" name="无标题-2023-01-18-1023.png" descr="无标题-2023-01-18-1023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598599" y="4335066"/>
            <a:ext cx="11239440" cy="839143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构建CSSOM树"/>
          <p:cNvSpPr txBox="1"/>
          <p:nvPr/>
        </p:nvSpPr>
        <p:spPr>
          <a:xfrm>
            <a:off x="951148" y="734882"/>
            <a:ext cx="4811015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构建CSSOM树</a:t>
            </a:r>
          </a:p>
        </p:txBody>
      </p:sp>
      <p:sp>
        <p:nvSpPr>
          <p:cNvPr id="174" name="CSSOM(CSS Object Model),浏览器需要把CSS转化为浏览器可以操作的东西-CSSOM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CSSOM(CSS Object Model),浏览器需要把CSS转化为浏览器可以操作的东西-CSSOM</a:t>
            </a:r>
          </a:p>
        </p:txBody>
      </p:sp>
      <p:pic>
        <p:nvPicPr>
          <p:cNvPr id="175" name="carbon (11).png" descr="carbon (11)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93580" y="3155988"/>
            <a:ext cx="5693457" cy="1048381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6" name="CSSOm.png" descr="CSSOm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82295" y="4293272"/>
            <a:ext cx="14725065" cy="5897153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177" name="线条 线条" descr="线条 线条"/>
          <p:cNvPicPr/>
          <p:nvPr/>
        </p:nvPicPr>
        <p:blipFill>
          <a:blip r:embed="rId3"/>
          <a:stretch>
            <a:fillRect/>
          </a:stretch>
        </p:blipFill>
        <p:spPr>
          <a:xfrm>
            <a:off x="6938940" y="6598156"/>
            <a:ext cx="1371600" cy="5196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0" name="构建渲染树"/>
          <p:cNvSpPr txBox="1"/>
          <p:nvPr/>
        </p:nvSpPr>
        <p:spPr>
          <a:xfrm>
            <a:off x="951148" y="734882"/>
            <a:ext cx="3606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构建渲染树</a:t>
            </a:r>
          </a:p>
        </p:txBody>
      </p:sp>
      <p:sp>
        <p:nvSpPr>
          <p:cNvPr id="181" name="HTML中的可视指令和CSSOM树的样式数据结合起来创建渲染树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HTML中的可视指令和CSSOM树的样式数据结合起来创建渲染树</a:t>
            </a:r>
          </a:p>
        </p:txBody>
      </p:sp>
      <p:sp>
        <p:nvSpPr>
          <p:cNvPr id="182" name="浏览器会做以下几个事情"/>
          <p:cNvSpPr txBox="1"/>
          <p:nvPr/>
        </p:nvSpPr>
        <p:spPr>
          <a:xfrm>
            <a:off x="1049892" y="3738297"/>
            <a:ext cx="6819901" cy="952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lvl1pPr>
          </a:lstStyle>
          <a:p>
            <a:r>
              <a:t>浏览器会做以下几个事情</a:t>
            </a:r>
          </a:p>
        </p:txBody>
      </p:sp>
      <p:sp>
        <p:nvSpPr>
          <p:cNvPr id="183" name="从根节点开始，遍历可见节点。一些节点（script、meta标签等）会被忽略。通过样式隐藏的节点也会被忽略(display: none)…"/>
          <p:cNvSpPr txBox="1"/>
          <p:nvPr/>
        </p:nvSpPr>
        <p:spPr>
          <a:xfrm>
            <a:off x="1099379" y="6289729"/>
            <a:ext cx="19303806" cy="3719272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L="889000" indent="-889000" algn="l">
              <a:spcBef>
                <a:spcPts val="4500"/>
              </a:spcBef>
              <a:buSzPct val="100000"/>
              <a:buAutoNum type="arabicPeriod"/>
              <a:defRPr sz="3400">
                <a:solidFill>
                  <a:srgbClr val="FFFFFF"/>
                </a:solidFill>
              </a:defRPr>
            </a:pPr>
            <a:r>
              <a:t>从根节点开始，遍历可见节点。一些节点（script、meta标签等）会被忽略。通过样式隐藏的节点也会被忽略(display: none)</a:t>
            </a:r>
          </a:p>
          <a:p>
            <a:pPr marL="889000" indent="-889000" algn="l">
              <a:spcBef>
                <a:spcPts val="4500"/>
              </a:spcBef>
              <a:buSzPct val="100000"/>
              <a:buAutoNum type="arabicPeriod"/>
              <a:defRPr sz="3400">
                <a:solidFill>
                  <a:srgbClr val="FFFFFF"/>
                </a:solidFill>
              </a:defRPr>
            </a:pPr>
            <a:r>
              <a:t>浏览器为每个可见节点应用相对应的CSSOM规则并应用这些样式规则</a:t>
            </a:r>
          </a:p>
          <a:p>
            <a:pPr marL="889000" indent="-889000" algn="l">
              <a:spcBef>
                <a:spcPts val="4500"/>
              </a:spcBef>
              <a:buSzPct val="100000"/>
              <a:buAutoNum type="arabicPeriod"/>
              <a:defRPr sz="3400">
                <a:solidFill>
                  <a:srgbClr val="FFFFFF"/>
                </a:solidFill>
              </a:defRPr>
            </a:pPr>
            <a:r>
              <a:t>释放出通过计算样式得到的可见节点</a:t>
            </a:r>
          </a:p>
        </p:txBody>
      </p:sp>
    </p:spTree>
  </p:cSld>
  <p:clrMapOvr>
    <a:masterClrMapping/>
  </p:clrMapOvr>
  <p:transition spd="med"/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渲染树布局"/>
          <p:cNvSpPr txBox="1"/>
          <p:nvPr/>
        </p:nvSpPr>
        <p:spPr>
          <a:xfrm>
            <a:off x="951148" y="734882"/>
            <a:ext cx="3606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渲染树布局</a:t>
            </a:r>
          </a:p>
        </p:txBody>
      </p:sp>
      <p:sp>
        <p:nvSpPr>
          <p:cNvPr id="186" name="渲染树构建好之后还需要计算元素的位置和大小，称为布局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渲染树构建好之后还需要计算元素的位置和大小，称为布局</a:t>
            </a:r>
          </a:p>
        </p:txBody>
      </p:sp>
      <p:sp>
        <p:nvSpPr>
          <p:cNvPr id="187" name="从根渲染器开始进行递归渲染，为每一个需要计算几何信息的渲染器提供信息。计算出每个节点在屏幕上显示的准确位置"/>
          <p:cNvSpPr txBox="1"/>
          <p:nvPr/>
        </p:nvSpPr>
        <p:spPr>
          <a:xfrm>
            <a:off x="2778238" y="5399750"/>
            <a:ext cx="18827525" cy="158242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20000"/>
              </a:lnSpc>
              <a:spcBef>
                <a:spcPts val="4500"/>
              </a:spcBef>
              <a:defRPr sz="3800">
                <a:solidFill>
                  <a:srgbClr val="FFFFFF"/>
                </a:solidFill>
              </a:defRPr>
            </a:lvl1pPr>
          </a:lstStyle>
          <a:p>
            <a:r>
              <a:t>从根渲染器开始进行递归渲染，为每一个需要计算几何信息的渲染器提供信息。计算出每个节点在屏幕上显示的准确位置</a:t>
            </a:r>
          </a:p>
        </p:txBody>
      </p:sp>
    </p:spTree>
  </p:cSld>
  <p:clrMapOvr>
    <a:masterClrMapping/>
  </p:clrMapOvr>
  <p:transition spd="med"/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9" name="绘制渲染树"/>
          <p:cNvSpPr txBox="1"/>
          <p:nvPr/>
        </p:nvSpPr>
        <p:spPr>
          <a:xfrm>
            <a:off x="951148" y="734882"/>
            <a:ext cx="3606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绘制渲染树</a:t>
            </a:r>
          </a:p>
        </p:txBody>
      </p:sp>
      <p:sp>
        <p:nvSpPr>
          <p:cNvPr id="190" name="遍历渲染器树后调用渲染器的paint()方法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遍历渲染器树后调用渲染器的paint()方法</a:t>
            </a:r>
          </a:p>
        </p:txBody>
      </p:sp>
      <p:pic>
        <p:nvPicPr>
          <p:cNvPr id="191" name="绘制.png" descr="绘制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43565" y="5132575"/>
            <a:ext cx="16776701" cy="51308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192" name="不会等待所有HTML解析完成后才开始构建和布局渲染树，会先解析和显示部分内容。并持续处理从网络接收的剩下的内容。"/>
          <p:cNvSpPr txBox="1"/>
          <p:nvPr/>
        </p:nvSpPr>
        <p:spPr>
          <a:xfrm>
            <a:off x="1157417" y="4084064"/>
            <a:ext cx="4791294" cy="7227824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150000"/>
              </a:lnSpc>
              <a:spcBef>
                <a:spcPts val="4500"/>
              </a:spcBef>
              <a:defRPr sz="4000">
                <a:solidFill>
                  <a:srgbClr val="FFFFFF"/>
                </a:solidFill>
              </a:defRPr>
            </a:lvl1pPr>
          </a:lstStyle>
          <a:p>
            <a:pPr>
              <a:defRPr>
                <a:solidFill>
                  <a:srgbClr val="000000"/>
                </a:solidFill>
              </a:defRPr>
            </a:pPr>
            <a:r>
              <a:rPr>
                <a:solidFill>
                  <a:srgbClr val="FFFFFF"/>
                </a:solidFill>
              </a:rPr>
              <a:t>不会等待所有HTML解析完成后才开始构建和布局渲染树，会先解析和显示部分内容。并持续处理从网络接收的剩下的内容。</a:t>
            </a:r>
            <a:endParaRPr>
              <a:solidFill>
                <a:srgbClr val="FFFFFF"/>
              </a:solidFill>
            </a:endParaRPr>
          </a:p>
        </p:txBody>
      </p:sp>
    </p:spTree>
  </p:cSld>
  <p:clrMapOvr>
    <a:masterClrMapping/>
  </p:clrMapOvr>
  <p:transition spd="med"/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" name="脚本和样式的处理顺序"/>
          <p:cNvSpPr txBox="1"/>
          <p:nvPr/>
        </p:nvSpPr>
        <p:spPr>
          <a:xfrm>
            <a:off x="951148" y="734882"/>
            <a:ext cx="70993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脚本和样式的处理顺序</a:t>
            </a:r>
          </a:p>
        </p:txBody>
      </p:sp>
      <p:sp>
        <p:nvSpPr>
          <p:cNvPr id="195" name="当HTML解析器遇到&lt;script&gt;标签的时候会立即解析和执行该标签里面的代码。此通过是同步的。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当HTML解析器遇到&lt;script&gt;标签的时候会立即解析和执行该标签里面的代码。此通过是同步的。</a:t>
            </a:r>
          </a:p>
        </p:txBody>
      </p:sp>
      <p:sp>
        <p:nvSpPr>
          <p:cNvPr id="196" name="defer 和 async:…"/>
          <p:cNvSpPr txBox="1"/>
          <p:nvPr/>
        </p:nvSpPr>
        <p:spPr>
          <a:xfrm>
            <a:off x="2030082" y="4596276"/>
            <a:ext cx="20323835" cy="4523448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600" b="1">
                <a:solidFill>
                  <a:srgbClr val="D5D5D5"/>
                </a:solidFill>
              </a:defRPr>
            </a:pPr>
            <a:r>
              <a:t>defer 和 async:</a:t>
            </a:r>
          </a:p>
          <a:p>
            <a:pPr algn="l" defTabSz="825500">
              <a:defRPr sz="3600" b="1">
                <a:solidFill>
                  <a:srgbClr val="D5D5D5"/>
                </a:solidFill>
              </a:defRPr>
            </a:pP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当浏览器遇到async的script变迁的时候会立即下载执行，同时继续加载页面。解决了阻塞问题，但是async下载的脚本具体什么时候执行就不太确定了，如果脚本需要修改DOM元素的就有可能会出错，适合第三方脚本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当浏览器解析器遇到defer属性的时候，浏览器会下载script，但是不管脚本是不是下载完了都会等到HTML解析完成后执行脚本。</a:t>
            </a:r>
          </a:p>
        </p:txBody>
      </p:sp>
    </p:spTree>
  </p:cSld>
  <p:clrMapOvr>
    <a:masterClrMapping/>
  </p:clrMapOvr>
  <p:transition spd="med"/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浏览器的重绘和重排"/>
          <p:cNvSpPr txBox="1"/>
          <p:nvPr/>
        </p:nvSpPr>
        <p:spPr>
          <a:xfrm>
            <a:off x="8991600" y="6318249"/>
            <a:ext cx="6400800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浏览器的重绘和重排</a:t>
            </a:r>
          </a:p>
        </p:txBody>
      </p:sp>
    </p:spTree>
  </p:cSld>
  <p:clrMapOvr>
    <a:masterClrMapping/>
  </p:clrMapOvr>
  <p:transition spd="med"/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重排和重绘"/>
          <p:cNvSpPr txBox="1"/>
          <p:nvPr/>
        </p:nvSpPr>
        <p:spPr>
          <a:xfrm>
            <a:off x="951148" y="734882"/>
            <a:ext cx="3606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重排和重绘</a:t>
            </a:r>
          </a:p>
        </p:txBody>
      </p:sp>
      <p:sp>
        <p:nvSpPr>
          <p:cNvPr id="201" name="文本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600" b="1">
                <a:solidFill>
                  <a:srgbClr val="D5D5D5"/>
                </a:solidFill>
              </a:defRPr>
            </a:pPr>
          </a:p>
        </p:txBody>
      </p:sp>
      <p:sp>
        <p:nvSpPr>
          <p:cNvPr id="202" name="重排：…"/>
          <p:cNvSpPr txBox="1"/>
          <p:nvPr/>
        </p:nvSpPr>
        <p:spPr>
          <a:xfrm>
            <a:off x="1646490" y="4126402"/>
            <a:ext cx="20323835" cy="32004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600" b="1">
                <a:solidFill>
                  <a:srgbClr val="D5D5D5"/>
                </a:solidFill>
              </a:defRPr>
            </a:pPr>
            <a:r>
              <a:t>重排：</a:t>
            </a:r>
          </a:p>
          <a:p>
            <a:pPr algn="l" defTabSz="825500">
              <a:defRPr sz="3600" b="1">
                <a:solidFill>
                  <a:srgbClr val="D5D5D5"/>
                </a:solidFill>
              </a:defRPr>
            </a:pPr>
            <a:r>
              <a:t>重新生成元素、重新排列布局，例如元素的宽、高被修改</a:t>
            </a:r>
          </a:p>
          <a:p>
            <a:pPr algn="l" defTabSz="825500">
              <a:defRPr sz="3600" b="1">
                <a:solidFill>
                  <a:srgbClr val="D5D5D5"/>
                </a:solidFill>
              </a:defRPr>
            </a:pPr>
          </a:p>
          <a:p>
            <a:pPr algn="l" defTabSz="825500">
              <a:defRPr sz="3600" b="1">
                <a:solidFill>
                  <a:srgbClr val="D5D5D5"/>
                </a:solidFill>
              </a:defRPr>
            </a:pPr>
            <a:r>
              <a:t>重绘：</a:t>
            </a:r>
          </a:p>
          <a:p>
            <a:pPr algn="l" defTabSz="825500">
              <a:defRPr sz="3600" b="1">
                <a:solidFill>
                  <a:srgbClr val="D5D5D5"/>
                </a:solidFill>
              </a:defRPr>
            </a:pPr>
            <a:r>
              <a:t>某些元素的外观被修改，例如元素的填充颜色</a:t>
            </a:r>
          </a:p>
        </p:txBody>
      </p:sp>
      <p:sp>
        <p:nvSpPr>
          <p:cNvPr id="203" name="性能消耗：重排 &gt; 重绘"/>
          <p:cNvSpPr txBox="1"/>
          <p:nvPr/>
        </p:nvSpPr>
        <p:spPr>
          <a:xfrm>
            <a:off x="9039300" y="9333207"/>
            <a:ext cx="6305399" cy="952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lvl1pPr>
          </a:lstStyle>
          <a:p>
            <a:r>
              <a:t>性能消耗：重排 &gt; 重绘</a:t>
            </a:r>
          </a:p>
        </p:txBody>
      </p:sp>
    </p:spTree>
  </p:cSld>
  <p:clrMapOvr>
    <a:masterClrMapping/>
  </p:clrMapOvr>
  <p:transition spd="med"/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" name="哪些情况会发生重排"/>
          <p:cNvSpPr txBox="1"/>
          <p:nvPr/>
        </p:nvSpPr>
        <p:spPr>
          <a:xfrm>
            <a:off x="951148" y="734882"/>
            <a:ext cx="6400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哪些情况会发生重排</a:t>
            </a:r>
          </a:p>
        </p:txBody>
      </p:sp>
      <p:sp>
        <p:nvSpPr>
          <p:cNvPr id="206" name="当DOM的变化影响了几何信息，浏览器需要重新计算元素的几何属性，将元素放在适合的位置，这个过程叫做重排"/>
          <p:cNvSpPr txBox="1"/>
          <p:nvPr/>
        </p:nvSpPr>
        <p:spPr>
          <a:xfrm>
            <a:off x="956897" y="2277961"/>
            <a:ext cx="20323835" cy="1384863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当DOM的变化影响了几何信息，浏览器需要重新计算元素的几何属性，将元素放在适合的位置，这个过程叫做重排</a:t>
            </a:r>
          </a:p>
        </p:txBody>
      </p:sp>
      <p:sp>
        <p:nvSpPr>
          <p:cNvPr id="207" name="页面初始化渲染（开销最大的重排）…"/>
          <p:cNvSpPr txBox="1"/>
          <p:nvPr/>
        </p:nvSpPr>
        <p:spPr>
          <a:xfrm>
            <a:off x="2030082" y="5538672"/>
            <a:ext cx="20323835" cy="52213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页面初始化渲染（开销最大的重排）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添加、删除可见DOM元素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改变元素位置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改变元素尺寸，例如：边距、填充边框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改变元素的内容，例如：文字数量、图片大小等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改变浏览器窗口的尺寸，例如：resize事件</a:t>
            </a:r>
          </a:p>
          <a:p>
            <a:pPr marL="666750" indent="-666750" algn="l" defTabSz="825500">
              <a:buSzPct val="100000"/>
              <a:buAutoNum type="arabicPeriod"/>
              <a:defRPr sz="3600" b="1">
                <a:solidFill>
                  <a:srgbClr val="D5D5D5"/>
                </a:solidFill>
              </a:defRPr>
            </a:pPr>
            <a:r>
              <a:t>某些属性或调用某些计算方法，例如：offsetWidth、offsetHeight等，调用getComputedStyle方法也会触发重排</a:t>
            </a:r>
          </a:p>
        </p:txBody>
      </p:sp>
    </p:spTree>
  </p:cSld>
  <p:clrMapOvr>
    <a:masterClrMapping/>
  </p:clrMapOvr>
  <p:transition spd="med"/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9" name="哪些情况会发生重绘"/>
          <p:cNvSpPr txBox="1"/>
          <p:nvPr/>
        </p:nvSpPr>
        <p:spPr>
          <a:xfrm>
            <a:off x="951148" y="734882"/>
            <a:ext cx="6400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哪些情况会发生重绘</a:t>
            </a:r>
          </a:p>
        </p:txBody>
      </p:sp>
      <p:sp>
        <p:nvSpPr>
          <p:cNvPr id="210" name="当一个元素外观被改变了，但没有改变布局，重新把元素外观绘制出来的过程叫做重绘"/>
          <p:cNvSpPr txBox="1"/>
          <p:nvPr/>
        </p:nvSpPr>
        <p:spPr>
          <a:xfrm>
            <a:off x="956897" y="260209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当一个元素外观被改变了，但没有改变布局，重新把元素外观绘制出来的过程叫做重绘</a:t>
            </a:r>
          </a:p>
        </p:txBody>
      </p:sp>
      <p:sp>
        <p:nvSpPr>
          <p:cNvPr id="211" name="常见的引起重绘的属性"/>
          <p:cNvSpPr txBox="1"/>
          <p:nvPr/>
        </p:nvSpPr>
        <p:spPr>
          <a:xfrm>
            <a:off x="956897" y="412640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常见的引起重绘的属性</a:t>
            </a:r>
          </a:p>
        </p:txBody>
      </p:sp>
      <p:pic>
        <p:nvPicPr>
          <p:cNvPr id="212" name="重绘.png" descr="重绘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54050" y="5650712"/>
            <a:ext cx="23075900" cy="750570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4" name="性能优化的一些提示"/>
          <p:cNvSpPr txBox="1"/>
          <p:nvPr/>
        </p:nvSpPr>
        <p:spPr>
          <a:xfrm>
            <a:off x="951148" y="734882"/>
            <a:ext cx="6400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性能优化的一些提示</a:t>
            </a:r>
          </a:p>
        </p:txBody>
      </p:sp>
      <p:sp>
        <p:nvSpPr>
          <p:cNvPr id="215" name="如下写法将会触发三次重排"/>
          <p:cNvSpPr txBox="1"/>
          <p:nvPr/>
        </p:nvSpPr>
        <p:spPr>
          <a:xfrm>
            <a:off x="956897" y="260209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如下写法将会触发三次重排</a:t>
            </a:r>
          </a:p>
        </p:txBody>
      </p:sp>
      <p:pic>
        <p:nvPicPr>
          <p:cNvPr id="216" name="carbon.png" descr="carbon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10369" y="3198863"/>
            <a:ext cx="9763261" cy="454968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7" name="carbon (2).png" descr="carbon (2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33500" y="9133023"/>
            <a:ext cx="21717000" cy="383540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18" name="线条 线条" descr="线条 线条"/>
          <p:cNvPicPr/>
          <p:nvPr/>
        </p:nvPicPr>
        <p:blipFill>
          <a:blip r:embed="rId3"/>
          <a:stretch>
            <a:fillRect/>
          </a:stretch>
        </p:blipFill>
        <p:spPr>
          <a:xfrm rot="5400000">
            <a:off x="11359457" y="8220826"/>
            <a:ext cx="1760359" cy="519688"/>
          </a:xfrm>
          <a:prstGeom prst="rect">
            <a:avLst/>
          </a:prstGeom>
        </p:spPr>
      </p:pic>
    </p:spTree>
  </p:cSld>
  <p:clrMapOvr>
    <a:masterClrMapping/>
  </p:clrMapOvr>
  <p:transition spd="med"/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性能优化的一些提示"/>
          <p:cNvSpPr txBox="1"/>
          <p:nvPr/>
        </p:nvSpPr>
        <p:spPr>
          <a:xfrm>
            <a:off x="951148" y="734882"/>
            <a:ext cx="6400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性能优化的一些提示</a:t>
            </a:r>
          </a:p>
        </p:txBody>
      </p:sp>
      <p:sp>
        <p:nvSpPr>
          <p:cNvPr id="222" name="使用文档片段批量操作DOM"/>
          <p:cNvSpPr txBox="1"/>
          <p:nvPr/>
        </p:nvSpPr>
        <p:spPr>
          <a:xfrm>
            <a:off x="1205151" y="260209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使用文档片段批量操作DOM</a:t>
            </a:r>
          </a:p>
        </p:txBody>
      </p:sp>
      <p:pic>
        <p:nvPicPr>
          <p:cNvPr id="223" name="线条 线条" descr="线条 线条"/>
          <p:cNvPicPr/>
          <p:nvPr/>
        </p:nvPicPr>
        <p:blipFill>
          <a:blip r:embed="rId1"/>
          <a:stretch>
            <a:fillRect/>
          </a:stretch>
        </p:blipFill>
        <p:spPr>
          <a:xfrm rot="150899">
            <a:off x="11051052" y="7324043"/>
            <a:ext cx="1262460" cy="519688"/>
          </a:xfrm>
          <a:prstGeom prst="rect">
            <a:avLst/>
          </a:prstGeom>
        </p:spPr>
      </p:pic>
      <p:pic>
        <p:nvPicPr>
          <p:cNvPr id="225" name="carbon (3).png" descr="carbon (3)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714" y="4198086"/>
            <a:ext cx="10359160" cy="7902559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26" name="图像" descr="图像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761057" y="6110207"/>
            <a:ext cx="11371497" cy="2966478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4" name="Service worker"/>
          <p:cNvSpPr txBox="1"/>
          <p:nvPr/>
        </p:nvSpPr>
        <p:spPr>
          <a:xfrm>
            <a:off x="951148" y="802162"/>
            <a:ext cx="5120451" cy="944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Service worker</a:t>
            </a:r>
          </a:p>
        </p:txBody>
      </p:sp>
      <p:sp>
        <p:nvSpPr>
          <p:cNvPr id="235" name="W3C组织在2014年5月提出过Service Worker这样的HTML5 API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W3C组织在2014年5月提出过Service Worker这样的HTML5 API</a:t>
            </a:r>
          </a:p>
        </p:txBody>
      </p:sp>
      <p:sp>
        <p:nvSpPr>
          <p:cNvPr id="236" name="Sw是浏览器的一个高级特性，本质是web worker的另一个实例，独立于网页运行的脚本"/>
          <p:cNvSpPr txBox="1"/>
          <p:nvPr/>
        </p:nvSpPr>
        <p:spPr>
          <a:xfrm>
            <a:off x="984481" y="3434151"/>
            <a:ext cx="20323835" cy="6731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200" b="1"/>
            </a:lvl1pPr>
          </a:lstStyle>
          <a:p>
            <a:r>
              <a:t>Sw是浏览器的一个高级特性，本质是web worker的另一个实例，独立于网页运行的脚本</a:t>
            </a:r>
          </a:p>
        </p:txBody>
      </p:sp>
      <p:sp>
        <p:nvSpPr>
          <p:cNvPr id="237" name="特点…"/>
          <p:cNvSpPr txBox="1"/>
          <p:nvPr/>
        </p:nvSpPr>
        <p:spPr>
          <a:xfrm>
            <a:off x="1012453" y="5393922"/>
            <a:ext cx="21531582" cy="5510887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>
              <a:lnSpc>
                <a:spcPct val="90000"/>
              </a:lnSpc>
              <a:spcBef>
                <a:spcPts val="4500"/>
              </a:spcBef>
              <a:defRPr sz="3800">
                <a:solidFill>
                  <a:srgbClr val="FFFFFF"/>
                </a:solidFill>
              </a:defRPr>
            </a:pPr>
            <a:r>
              <a:t>特点</a:t>
            </a:r>
          </a:p>
          <a:p>
            <a:pPr marL="889000" indent="-889000" algn="l">
              <a:lnSpc>
                <a:spcPct val="90000"/>
              </a:lnSpc>
              <a:spcBef>
                <a:spcPts val="4500"/>
              </a:spcBef>
              <a:buSzPct val="100000"/>
              <a:buAutoNum type="arabicPeriod"/>
              <a:defRPr sz="3800">
                <a:solidFill>
                  <a:srgbClr val="FFFFFF"/>
                </a:solidFill>
              </a:defRPr>
            </a:pPr>
            <a:r>
              <a:t>独立于主线程</a:t>
            </a:r>
          </a:p>
          <a:p>
            <a:pPr marL="889000" indent="-889000" algn="l">
              <a:lnSpc>
                <a:spcPct val="90000"/>
              </a:lnSpc>
              <a:spcBef>
                <a:spcPts val="4500"/>
              </a:spcBef>
              <a:buSzPct val="100000"/>
              <a:buAutoNum type="arabicPeriod"/>
              <a:defRPr sz="3800">
                <a:solidFill>
                  <a:srgbClr val="FFFFFF"/>
                </a:solidFill>
              </a:defRPr>
            </a:pPr>
            <a:r>
              <a:t>拦截所有网站的请求并返回缓存文件，基于fetch API。配合cacheStorage来管理页面缓存</a:t>
            </a:r>
          </a:p>
          <a:p>
            <a:pPr marL="889000" indent="-889000" algn="l">
              <a:lnSpc>
                <a:spcPct val="90000"/>
              </a:lnSpc>
              <a:spcBef>
                <a:spcPts val="4500"/>
              </a:spcBef>
              <a:buSzPct val="100000"/>
              <a:buAutoNum type="arabicPeriod"/>
              <a:defRPr sz="3800">
                <a:solidFill>
                  <a:srgbClr val="FFFFFF"/>
                </a:solidFill>
              </a:defRPr>
            </a:pPr>
            <a:r>
              <a:t>无法操作DOM</a:t>
            </a:r>
          </a:p>
          <a:p>
            <a:pPr marL="889000" indent="-889000" algn="l">
              <a:lnSpc>
                <a:spcPct val="90000"/>
              </a:lnSpc>
              <a:spcBef>
                <a:spcPts val="4500"/>
              </a:spcBef>
              <a:buSzPct val="100000"/>
              <a:buAutoNum type="arabicPeriod"/>
              <a:defRPr sz="3800">
                <a:solidFill>
                  <a:srgbClr val="FFFFFF"/>
                </a:solidFill>
              </a:defRPr>
            </a:pPr>
            <a:r>
              <a:t>必须是https协议才能使用，或者基于本地的localhost</a:t>
            </a:r>
          </a:p>
        </p:txBody>
      </p:sp>
    </p:spTree>
  </p:cSld>
  <p:clrMapOvr>
    <a:masterClrMapping/>
  </p:clrMapOvr>
  <p:transition spd="med"/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V8的代码缓存机制"/>
          <p:cNvSpPr txBox="1"/>
          <p:nvPr/>
        </p:nvSpPr>
        <p:spPr>
          <a:xfrm>
            <a:off x="8991600" y="6318249"/>
            <a:ext cx="583222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V8的代码缓存机制</a:t>
            </a:r>
          </a:p>
        </p:txBody>
      </p:sp>
    </p:spTree>
  </p:cSld>
  <p:clrMapOvr>
    <a:masterClrMapping/>
  </p:clrMapOvr>
  <p:transition spd="med"/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1" name="热启动和冷启动"/>
          <p:cNvSpPr txBox="1"/>
          <p:nvPr/>
        </p:nvSpPr>
        <p:spPr>
          <a:xfrm>
            <a:off x="951148" y="734882"/>
            <a:ext cx="5003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热启动和冷启动</a:t>
            </a:r>
          </a:p>
        </p:txBody>
      </p:sp>
      <p:pic>
        <p:nvPicPr>
          <p:cNvPr id="242" name="V8.png" descr="V8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351299" y="2711618"/>
            <a:ext cx="21681402" cy="10875495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4" name="具体代码演示"/>
          <p:cNvSpPr txBox="1"/>
          <p:nvPr/>
        </p:nvSpPr>
        <p:spPr>
          <a:xfrm>
            <a:off x="10039350" y="6318249"/>
            <a:ext cx="4305300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具体代码演示</a:t>
            </a:r>
          </a:p>
        </p:txBody>
      </p:sp>
    </p:spTree>
  </p:cSld>
  <p:clrMapOvr>
    <a:masterClrMapping/>
  </p:clrMapOvr>
  <p:transition spd="med"/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46" name="优化前后性能数据对比"/>
          <p:cNvSpPr txBox="1"/>
          <p:nvPr/>
        </p:nvSpPr>
        <p:spPr>
          <a:xfrm>
            <a:off x="951148" y="734882"/>
            <a:ext cx="70993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优化前后性能数据对比</a:t>
            </a:r>
          </a:p>
        </p:txBody>
      </p:sp>
      <p:sp>
        <p:nvSpPr>
          <p:cNvPr id="247" name="FCP(first contentful paint) 首次内容渲染即首屏时间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FCP(first contentful paint) 首次内容渲染即首屏时间</a:t>
            </a:r>
          </a:p>
        </p:txBody>
      </p:sp>
      <p:pic>
        <p:nvPicPr>
          <p:cNvPr id="248" name="截屏2023-03-06 10.01.46.png" descr="截屏2023-03-06 10.01.4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24196" y="8241289"/>
            <a:ext cx="13499640" cy="5105882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49" name="截屏2023-03-06 10.00.32.png" descr="截屏2023-03-06 10.00.3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080389" y="3155988"/>
            <a:ext cx="12587254" cy="4782800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50" name="优化前：FCP: 1800ms"/>
          <p:cNvSpPr txBox="1"/>
          <p:nvPr/>
        </p:nvSpPr>
        <p:spPr>
          <a:xfrm>
            <a:off x="16467475" y="3155988"/>
            <a:ext cx="6257240" cy="952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lvl1pPr>
          </a:lstStyle>
          <a:p>
            <a:r>
              <a:t>优化前：FCP: 1800ms</a:t>
            </a:r>
          </a:p>
        </p:txBody>
      </p:sp>
      <p:pic>
        <p:nvPicPr>
          <p:cNvPr id="251" name="线条 线条" descr="线条 线条"/>
          <p:cNvPicPr/>
          <p:nvPr/>
        </p:nvPicPr>
        <p:blipFill>
          <a:blip r:embed="rId3"/>
          <a:stretch>
            <a:fillRect/>
          </a:stretch>
        </p:blipFill>
        <p:spPr>
          <a:xfrm rot="5400000">
            <a:off x="18339801" y="6435307"/>
            <a:ext cx="2173649" cy="519688"/>
          </a:xfrm>
          <a:prstGeom prst="rect">
            <a:avLst/>
          </a:prstGeom>
        </p:spPr>
      </p:pic>
      <p:sp>
        <p:nvSpPr>
          <p:cNvPr id="253" name="优化前：FCP: 626ms"/>
          <p:cNvSpPr txBox="1"/>
          <p:nvPr/>
        </p:nvSpPr>
        <p:spPr>
          <a:xfrm>
            <a:off x="16467475" y="9229950"/>
            <a:ext cx="5918303" cy="952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lvl1pPr>
          </a:lstStyle>
          <a:p>
            <a:r>
              <a:t>优化前：FCP: 626ms</a:t>
            </a:r>
          </a:p>
        </p:txBody>
      </p:sp>
      <p:sp>
        <p:nvSpPr>
          <p:cNvPr id="254" name="约60%"/>
          <p:cNvSpPr txBox="1"/>
          <p:nvPr/>
        </p:nvSpPr>
        <p:spPr>
          <a:xfrm>
            <a:off x="20125190" y="6140132"/>
            <a:ext cx="3616638" cy="9525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>
              <a:lnSpc>
                <a:spcPct val="90000"/>
              </a:lnSpc>
              <a:spcBef>
                <a:spcPts val="4500"/>
              </a:spcBef>
              <a:defRPr sz="4800">
                <a:solidFill>
                  <a:srgbClr val="FFFFFF"/>
                </a:solidFill>
              </a:defRPr>
            </a:lvl1pPr>
          </a:lstStyle>
          <a:p>
            <a:r>
              <a:t>约60%</a:t>
            </a:r>
          </a:p>
        </p:txBody>
      </p:sp>
    </p:spTree>
  </p:cSld>
  <p:clrMapOvr>
    <a:masterClrMapping/>
  </p:clrMapOvr>
  <p:transition spd="med"/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" name="SSR运用的内存泄漏排查"/>
          <p:cNvSpPr txBox="1"/>
          <p:nvPr/>
        </p:nvSpPr>
        <p:spPr>
          <a:xfrm>
            <a:off x="8286115" y="6318249"/>
            <a:ext cx="781177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SSR运用的内存泄漏排查</a:t>
            </a:r>
          </a:p>
        </p:txBody>
      </p:sp>
    </p:spTree>
  </p:cSld>
  <p:clrMapOvr>
    <a:masterClrMapping/>
  </p:clrMapOvr>
  <p:transition spd="med"/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8" name="CSR vs SSR"/>
          <p:cNvSpPr txBox="1"/>
          <p:nvPr/>
        </p:nvSpPr>
        <p:spPr>
          <a:xfrm>
            <a:off x="10128408" y="6385530"/>
            <a:ext cx="4127184" cy="944940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CSR vs SSR</a:t>
            </a:r>
          </a:p>
        </p:txBody>
      </p:sp>
    </p:spTree>
  </p:cSld>
  <p:clrMapOvr>
    <a:masterClrMapping/>
  </p:clrMapOvr>
  <p:transition spd="med"/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0" name="使用node-inspector排查内存泄漏的步骤"/>
          <p:cNvSpPr txBox="1"/>
          <p:nvPr/>
        </p:nvSpPr>
        <p:spPr>
          <a:xfrm>
            <a:off x="951148" y="734882"/>
            <a:ext cx="12893359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使用node-inspector排查内存泄漏的步骤</a:t>
            </a:r>
          </a:p>
        </p:txBody>
      </p:sp>
      <p:sp>
        <p:nvSpPr>
          <p:cNvPr id="261" name="输入指令 node —inspect server.js 启动入口文件"/>
          <p:cNvSpPr txBox="1"/>
          <p:nvPr/>
        </p:nvSpPr>
        <p:spPr>
          <a:xfrm>
            <a:off x="956897" y="261339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输入指令 node —inspect server.js 启动入口文件</a:t>
            </a:r>
          </a:p>
        </p:txBody>
      </p:sp>
      <p:pic>
        <p:nvPicPr>
          <p:cNvPr id="262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53591" y="5701405"/>
            <a:ext cx="9851185" cy="4895921"/>
          </a:xfrm>
          <a:prstGeom prst="rect">
            <a:avLst/>
          </a:prstGeom>
          <a:ln w="12700">
            <a:miter lim="400000"/>
            <a:headEnd/>
            <a:tailEnd/>
          </a:ln>
        </p:spPr>
      </p:pic>
      <p:sp>
        <p:nvSpPr>
          <p:cNvPr id="263" name="点击chrome devtool中的nodejs图标"/>
          <p:cNvSpPr txBox="1"/>
          <p:nvPr/>
        </p:nvSpPr>
        <p:spPr>
          <a:xfrm>
            <a:off x="956897" y="4149002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点击chrome devtool中的nodejs图标</a:t>
            </a:r>
          </a:p>
        </p:txBody>
      </p:sp>
      <p:pic>
        <p:nvPicPr>
          <p:cNvPr id="264" name="图像" descr="图像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424849" y="4555748"/>
            <a:ext cx="9458401" cy="850992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6" name="内存泄漏的表现"/>
          <p:cNvSpPr txBox="1"/>
          <p:nvPr/>
        </p:nvSpPr>
        <p:spPr>
          <a:xfrm>
            <a:off x="951148" y="734882"/>
            <a:ext cx="50038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内存泄漏的表现</a:t>
            </a:r>
          </a:p>
        </p:txBody>
      </p:sp>
      <p:sp>
        <p:nvSpPr>
          <p:cNvPr id="267" name="经过获取多次内存快照，内存快照的大小呈递增趋势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经过获取多次内存快照，内存快照的大小呈递增趋势</a:t>
            </a:r>
          </a:p>
        </p:txBody>
      </p:sp>
      <p:pic>
        <p:nvPicPr>
          <p:cNvPr id="268" name="图像" descr="图像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93214" y="4007660"/>
            <a:ext cx="8197573" cy="828341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降序排列retained Size 列"/>
          <p:cNvSpPr txBox="1"/>
          <p:nvPr/>
        </p:nvSpPr>
        <p:spPr>
          <a:xfrm>
            <a:off x="951148" y="734882"/>
            <a:ext cx="8121207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降序排列retained Size 列</a:t>
            </a:r>
          </a:p>
        </p:txBody>
      </p:sp>
      <p:sp>
        <p:nvSpPr>
          <p:cNvPr id="271" name="文本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/>
          <a:p>
            <a:pPr algn="l" defTabSz="825500">
              <a:defRPr sz="3600" b="1">
                <a:solidFill>
                  <a:srgbClr val="D5D5D5"/>
                </a:solidFill>
              </a:defRPr>
            </a:pPr>
          </a:p>
        </p:txBody>
      </p:sp>
      <p:pic>
        <p:nvPicPr>
          <p:cNvPr id="272" name="截屏2023-03-06 23.13.55.png" descr="截屏2023-03-06 23.13.55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24204" y="4404552"/>
            <a:ext cx="17535592" cy="7489626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查找可能的内存泄漏点"/>
          <p:cNvSpPr txBox="1"/>
          <p:nvPr/>
        </p:nvSpPr>
        <p:spPr>
          <a:xfrm>
            <a:off x="951148" y="734882"/>
            <a:ext cx="70993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查找可能的内存泄漏点</a:t>
            </a:r>
          </a:p>
        </p:txBody>
      </p:sp>
      <p:sp>
        <p:nvSpPr>
          <p:cNvPr id="275" name="在服务端代码（entry-server.js）中执行了多次sentry的初始化操作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在服务端代码（entry-server.js）中执行了多次sentry的初始化操作</a:t>
            </a:r>
          </a:p>
        </p:txBody>
      </p:sp>
      <p:pic>
        <p:nvPicPr>
          <p:cNvPr id="276" name="截屏2023-03-06 23.15.49.png" descr="截屏2023-03-06 23.15.49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47404" y="3155988"/>
            <a:ext cx="12000647" cy="9039248"/>
          </a:xfrm>
          <a:prstGeom prst="rect">
            <a:avLst/>
          </a:prstGeom>
          <a:ln w="12700">
            <a:miter lim="400000"/>
            <a:headEnd/>
            <a:tailEnd/>
          </a:ln>
        </p:spPr>
      </p:pic>
      <p:pic>
        <p:nvPicPr>
          <p:cNvPr id="277" name="截屏2023-03-06 23.17.49.png" descr="截屏2023-03-06 23.17.4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621185" y="3456412"/>
            <a:ext cx="11468920" cy="7185921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查找可能的内存泄漏点"/>
          <p:cNvSpPr txBox="1"/>
          <p:nvPr/>
        </p:nvSpPr>
        <p:spPr>
          <a:xfrm>
            <a:off x="951148" y="734882"/>
            <a:ext cx="7099301" cy="1079501"/>
          </a:xfrm>
          <a:prstGeom prst="rect">
            <a:avLst/>
          </a:prstGeom>
          <a:ln w="12700">
            <a:miter lim="400000"/>
          </a:ln>
        </p:spPr>
        <p:txBody>
          <a:bodyPr wrap="none" lIns="50800" tIns="50800" rIns="50800" bIns="50800" anchor="ctr">
            <a:spAutoFit/>
          </a:bodyPr>
          <a:lstStyle>
            <a:lvl1pPr algn="l" defTabSz="825500">
              <a:defRPr sz="5500" b="1">
                <a:solidFill>
                  <a:srgbClr val="FFFFFF"/>
                </a:solidFill>
              </a:defRPr>
            </a:lvl1pPr>
          </a:lstStyle>
          <a:p>
            <a:r>
              <a:t>查找可能的内存泄漏点</a:t>
            </a:r>
          </a:p>
        </p:txBody>
      </p:sp>
      <p:sp>
        <p:nvSpPr>
          <p:cNvPr id="280" name="将sentry初始化操作移动到客户端代码(entry-client.js)中即可解决内存泄漏问题"/>
          <p:cNvSpPr txBox="1"/>
          <p:nvPr/>
        </p:nvSpPr>
        <p:spPr>
          <a:xfrm>
            <a:off x="984481" y="2116885"/>
            <a:ext cx="20323835" cy="736601"/>
          </a:xfrm>
          <a:prstGeom prst="rect">
            <a:avLst/>
          </a:prstGeom>
          <a:ln w="12700">
            <a:miter lim="400000"/>
          </a:ln>
        </p:spPr>
        <p:txBody>
          <a:bodyPr lIns="50800" tIns="50800" rIns="50800" bIns="50800" anchor="ctr">
            <a:spAutoFit/>
          </a:bodyPr>
          <a:lstStyle>
            <a:lvl1pPr algn="l" defTabSz="825500">
              <a:defRPr sz="3600" b="1">
                <a:solidFill>
                  <a:srgbClr val="D5D5D5"/>
                </a:solidFill>
              </a:defRPr>
            </a:lvl1pPr>
          </a:lstStyle>
          <a:p>
            <a:r>
              <a:t>将sentry初始化操作移动到客户端代码(entry-client.js)中即可解决内存泄漏问题</a:t>
            </a:r>
          </a:p>
        </p:txBody>
      </p:sp>
      <p:pic>
        <p:nvPicPr>
          <p:cNvPr id="281" name="截屏2023-03-06 23.27.06.png" descr="截屏2023-03-06 23.27.06.pn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622016" y="3703227"/>
            <a:ext cx="13048766" cy="8892277"/>
          </a:xfrm>
          <a:prstGeom prst="rect">
            <a:avLst/>
          </a:prstGeom>
          <a:ln w="12700">
            <a:miter lim="400000"/>
            <a:headEnd/>
            <a:tailEnd/>
          </a:ln>
        </p:spPr>
      </p:pic>
    </p:spTree>
  </p:cSld>
  <p:clrMapOvr>
    <a:masterClrMapping/>
  </p:clrMapOvr>
  <p:transition spd="med"/>
</p:sld>
</file>

<file path=ppt/theme/theme1.xml><?xml version="1.0" encoding="utf-8"?>
<a:theme xmlns:a="http://schemas.openxmlformats.org/drawingml/2006/main" name="30_BasicColor">
  <a:themeElements>
    <a:clrScheme name="30_BasicColor">
      <a:dk1>
        <a:srgbClr val="5E5E5E"/>
      </a:dk1>
      <a:lt1>
        <a:srgbClr val="003462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30_BasicColor">
  <a:themeElements>
    <a:clrScheme name="30_BasicColor">
      <a:dk1>
        <a:srgbClr val="000000"/>
      </a:dk1>
      <a:lt1>
        <a:srgbClr val="FFFFFF"/>
      </a:lt1>
      <a:dk2>
        <a:srgbClr val="5E5E5E"/>
      </a:dk2>
      <a:lt2>
        <a:srgbClr val="D5D5D5"/>
      </a:lt2>
      <a:accent1>
        <a:srgbClr val="00A2FF"/>
      </a:accent1>
      <a:accent2>
        <a:srgbClr val="16E7CF"/>
      </a:accent2>
      <a:accent3>
        <a:srgbClr val="61D836"/>
      </a:accent3>
      <a:accent4>
        <a:srgbClr val="FFD932"/>
      </a:accent4>
      <a:accent5>
        <a:srgbClr val="FF644E"/>
      </a:accent5>
      <a:accent6>
        <a:srgbClr val="FF42A1"/>
      </a:accent6>
      <a:hlink>
        <a:srgbClr val="0000FF"/>
      </a:hlink>
      <a:folHlink>
        <a:srgbClr val="FF00FF"/>
      </a:folHlink>
    </a:clrScheme>
    <a:fontScheme name="30_BasicColor">
      <a:majorFont>
        <a:latin typeface="Helvetica Neue"/>
        <a:ea typeface="Helvetica Neue"/>
        <a:cs typeface="Helvetica Neue"/>
      </a:majorFont>
      <a:minorFont>
        <a:latin typeface="Helvetica Neue"/>
        <a:ea typeface="Helvetica Neue"/>
        <a:cs typeface="Helvetica Neue"/>
      </a:minorFont>
    </a:fontScheme>
    <a:fmtScheme name="30_BasicColor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29999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4999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>
        <a:solidFill>
          <a:srgbClr val="000000"/>
        </a:solidFill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8255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3200" b="0" i="0" u="none" strike="noStrike" cap="none" spc="0" normalizeH="0" baseline="0">
            <a:ln>
              <a:noFill/>
            </a:ln>
            <a:solidFill>
              <a:srgbClr val="FFFFFF"/>
            </a:solidFill>
            <a:effectLst/>
            <a:uFillTx/>
            <a:latin typeface="Helvetica Neue Medium"/>
            <a:ea typeface="Helvetica Neue Medium"/>
            <a:cs typeface="Helvetica Neue Medium"/>
            <a:sym typeface="Helvetica Neue Medium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spDef>
    <a:lnDef>
      <a:spPr>
        <a:noFill/>
        <a:ln w="25400" cap="flat">
          <a:solidFill>
            <a:srgbClr val="000000"/>
          </a:solidFill>
          <a:prstDash val="solid"/>
          <a:miter lim="400000"/>
        </a:ln>
      </a:spPr>
      <a:bodyPr rot="0" spcFirstLastPara="1" vertOverflow="overflow" horzOverflow="overflow" vert="horz" wrap="square" lIns="91439" tIns="45719" rIns="91439" bIns="45719" numCol="1" spcCol="38100" rtlCol="0" anchor="t" upright="0">
        <a:noAutofit/>
      </a:bodyPr>
      <a:lstStyle>
        <a:def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lnDef>
    <a:txDef>
      <a:spPr>
        <a:noFill/>
        <a:ln w="12700" cap="flat">
          <a:noFill/>
          <a:miter lim="400000"/>
        </a:ln>
      </a:spPr>
      <a:bodyPr rot="0" spcFirstLastPara="1" vertOverflow="overflow" horzOverflow="overflow" vert="horz" wrap="square" lIns="50800" tIns="50800" rIns="50800" bIns="50800" numCol="1" spcCol="38100" rtlCol="0" anchor="ctr" upright="0">
        <a:spAutoFit/>
      </a:bodyPr>
      <a:lstStyle>
        <a:defPPr marL="0" marR="0" indent="0" algn="ctr" defTabSz="2438400" rtl="0" fontAlgn="auto" latinLnBrk="0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2400" b="0" i="0" u="none" strike="noStrike" cap="none" spc="0" normalizeH="0" baseline="0">
            <a:ln>
              <a:noFill/>
            </a:ln>
            <a:solidFill>
              <a:srgbClr val="5E5E5E"/>
            </a:solidFill>
            <a:effectLst/>
            <a:uFillTx/>
            <a:latin typeface="+mn-lt"/>
            <a:ea typeface="+mn-ea"/>
            <a:cs typeface="+mn-cs"/>
            <a:sym typeface="Helvetica Neue"/>
          </a:defRPr>
        </a:defPPr>
        <a:lvl1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1pPr>
        <a:lvl2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2pPr>
        <a:lvl3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3pPr>
        <a:lvl4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4pPr>
        <a:lvl5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5pPr>
        <a:lvl6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6pPr>
        <a:lvl7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7pPr>
        <a:lvl8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8pPr>
        <a:lvl9pPr marL="0" marR="0" indent="0" algn="l" defTabSz="914400" rtl="0" fontAlgn="auto" latinLnBrk="1" hangingPunct="0">
          <a:lnSpc>
            <a:spcPct val="100000"/>
          </a:lnSpc>
          <a:spcBef>
            <a:spcPts val="0"/>
          </a:spcBef>
          <a:spcAft>
            <a:spcPts val="0"/>
          </a:spcAft>
          <a:buClrTx/>
          <a:buSzTx/>
          <a:buFontTx/>
          <a:buNone/>
          <a:defRPr kumimoji="0" sz="1800" b="0" i="0" u="none" strike="noStrike" cap="none" spc="0" normalizeH="0" baseline="0">
            <a:ln>
              <a:noFill/>
            </a:ln>
            <a:solidFill>
              <a:srgbClr val="000000"/>
            </a:solidFill>
            <a:effectLst/>
            <a:uFillTx/>
          </a:defRPr>
        </a:lvl9pPr>
      </a:lstStyle>
      <a:style>
        <a:lnRef idx="0">
          <a:srgbClr val="FFFFFF"/>
        </a:lnRef>
        <a:fillRef idx="0">
          <a:srgbClr val="FFFFFF"/>
        </a:fillRef>
        <a:effectRef idx="0">
          <a:srgbClr val="FFFFFF"/>
        </a:effectRef>
        <a:fontRef idx="none"/>
      </a:style>
    </a:txDef>
  </a:objectDefaul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1676</Words>
  <Application>WPS 演示</Application>
  <PresentationFormat/>
  <Paragraphs>135</Paragraphs>
  <Slides>26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26</vt:i4>
      </vt:variant>
    </vt:vector>
  </HeadingPairs>
  <TitlesOfParts>
    <vt:vector size="35" baseType="lpstr">
      <vt:lpstr>Arial</vt:lpstr>
      <vt:lpstr>宋体</vt:lpstr>
      <vt:lpstr>Wingdings</vt:lpstr>
      <vt:lpstr>Helvetica Neue</vt:lpstr>
      <vt:lpstr>Helvetica Neue Medium</vt:lpstr>
      <vt:lpstr>微软雅黑</vt:lpstr>
      <vt:lpstr>Arial Unicode MS</vt:lpstr>
      <vt:lpstr>Helvetica Neue</vt:lpstr>
      <vt:lpstr>30_BasicColor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____ZSY_____</cp:lastModifiedBy>
  <cp:revision>2</cp:revision>
  <dcterms:created xsi:type="dcterms:W3CDTF">2025-08-18T01:20:00Z</dcterms:created>
  <dcterms:modified xsi:type="dcterms:W3CDTF">2025-09-02T02:58:47Z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4BEF4A159F6C406CAB8F21B9CABED086_12</vt:lpwstr>
  </property>
  <property fmtid="{D5CDD505-2E9C-101B-9397-08002B2CF9AE}" pid="3" name="KSOProductBuildVer">
    <vt:lpwstr>2052-12.1.0.22529</vt:lpwstr>
  </property>
</Properties>
</file>